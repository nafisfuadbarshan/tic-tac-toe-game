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296" r:id="rId6"/>
    <p:sldId id="263" r:id="rId7"/>
    <p:sldId id="297" r:id="rId8"/>
    <p:sldId id="298" r:id="rId9"/>
    <p:sldId id="300" r:id="rId10"/>
    <p:sldId id="301" r:id="rId11"/>
    <p:sldId id="302" r:id="rId12"/>
    <p:sldId id="275" r:id="rId13"/>
  </p:sldIdLst>
  <p:sldSz cx="9144000" cy="5143500" type="screen16x9"/>
  <p:notesSz cx="6858000" cy="9144000"/>
  <p:embeddedFontLst>
    <p:embeddedFont>
      <p:font typeface="Actor" panose="020B0604020202020204" charset="0"/>
      <p:regular r:id="rId15"/>
    </p:embeddedFont>
    <p:embeddedFont>
      <p:font typeface="Aldrich" panose="020B0604020202020204" charset="0"/>
      <p:regular r:id="rId16"/>
    </p:embeddedFont>
    <p:embeddedFont>
      <p:font typeface="Calisto MT" panose="02040603050505030304" pitchFamily="18" charset="0"/>
      <p:regular r:id="rId17"/>
      <p:bold r:id="rId18"/>
      <p:italic r:id="rId19"/>
      <p:boldItalic r:id="rId20"/>
    </p:embeddedFont>
    <p:embeddedFont>
      <p:font typeface="Gantari" panose="020B0604020202020204" charset="0"/>
      <p:regular r:id="rId21"/>
      <p:bold r:id="rId22"/>
      <p:italic r:id="rId23"/>
      <p:boldItalic r:id="rId24"/>
    </p:embeddedFont>
    <p:embeddedFont>
      <p:font typeface="Nunito Light" panose="020F0502020204030204" pitchFamily="2" charset="0"/>
      <p:regular r:id="rId25"/>
      <p:italic r:id="rId26"/>
    </p:embeddedFont>
    <p:embeddedFont>
      <p:font typeface="Wingdings 2" panose="05020102010507070707" pitchFamily="18" charset="2"/>
      <p:regular r:id="rId2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992575-7FA6-4421-9E92-2A112C100DC3}">
  <a:tblStyle styleId="{33992575-7FA6-4421-9E92-2A112C100D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716C633-0397-4D98-86A9-F80D1B5C31C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6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3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880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" name="Google Shape;3440;g1ea91941a73_0_1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1" name="Google Shape;3441;g1ea91941a73_0_1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327155"/>
            <a:ext cx="7080026" cy="1371601"/>
          </a:xfrm>
        </p:spPr>
        <p:txBody>
          <a:bodyPr anchor="b">
            <a:normAutofit/>
          </a:bodyPr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2698755"/>
            <a:ext cx="7080026" cy="787400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33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7304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320801"/>
            <a:ext cx="7192913" cy="1371610"/>
          </a:xfrm>
        </p:spPr>
        <p:txBody>
          <a:bodyPr anchor="b"/>
          <a:lstStyle>
            <a:lvl1pPr algn="ct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2692409"/>
            <a:ext cx="7192913" cy="1130291"/>
          </a:xfrm>
        </p:spPr>
        <p:txBody>
          <a:bodyPr anchor="t"/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78490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299337"/>
            <a:ext cx="3795373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299337"/>
            <a:ext cx="3798499" cy="304406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2842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6" y="1300880"/>
            <a:ext cx="3816804" cy="3111577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64" y="1300880"/>
            <a:ext cx="3816804" cy="311157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376441"/>
            <a:ext cx="3657258" cy="408663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1785103"/>
            <a:ext cx="365725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376441"/>
            <a:ext cx="3671498" cy="408662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1785103"/>
            <a:ext cx="3671498" cy="25582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09804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2245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03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200"/>
            <a:ext cx="2780167" cy="1366439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457200"/>
            <a:ext cx="4808943" cy="38862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3639"/>
            <a:ext cx="2780167" cy="251976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510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249" y="457200"/>
            <a:ext cx="2688125" cy="3903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457442"/>
            <a:ext cx="4451212" cy="1372004"/>
          </a:xfrm>
        </p:spPr>
        <p:txBody>
          <a:bodyPr anchor="b">
            <a:no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1914" y="572776"/>
            <a:ext cx="2456813" cy="3684617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1829445"/>
            <a:ext cx="4451212" cy="253210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9305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13" y="410855"/>
            <a:ext cx="7606349" cy="28626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3423941"/>
            <a:ext cx="7766495" cy="407604"/>
          </a:xfrm>
        </p:spPr>
        <p:txBody>
          <a:bodyPr anchor="b">
            <a:normAutofit/>
          </a:bodyPr>
          <a:lstStyle>
            <a:lvl1pPr algn="ctr"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77012" y="521257"/>
            <a:ext cx="7384010" cy="2644253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831546"/>
            <a:ext cx="7765322" cy="511854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64336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6328"/>
            <a:ext cx="7765322" cy="265075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1385"/>
            <a:ext cx="7765322" cy="1126370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391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399562"/>
          </a:xfrm>
        </p:spPr>
        <p:txBody>
          <a:bodyPr anchor="t">
            <a:normAutofit/>
          </a:bodyPr>
          <a:lstStyle>
            <a:lvl1pPr marL="0" indent="0" algn="r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3228265"/>
            <a:ext cx="7765322" cy="111712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42950" y="66359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8537" y="219619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08368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1595207"/>
            <a:ext cx="7765322" cy="188387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3487917"/>
            <a:ext cx="776414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02950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414462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1928812"/>
            <a:ext cx="2475738" cy="2414588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36450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72" y="1363661"/>
            <a:ext cx="2504979" cy="1385888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850" y="1363661"/>
            <a:ext cx="2504979" cy="1385888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038" y="1363661"/>
            <a:ext cx="2504979" cy="138588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454188"/>
            <a:ext cx="2319276" cy="1202216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454321"/>
            <a:ext cx="2319276" cy="1206123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6" y="3360276"/>
            <a:ext cx="2475738" cy="98312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2928079"/>
            <a:ext cx="2475738" cy="432197"/>
          </a:xfrm>
        </p:spPr>
        <p:txBody>
          <a:bodyPr anchor="b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450824"/>
            <a:ext cx="2319276" cy="1205471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3360274"/>
            <a:ext cx="2475738" cy="98312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00120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55666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457200"/>
            <a:ext cx="1713365" cy="38862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457200"/>
            <a:ext cx="5937654" cy="38862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84766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" hasCustomPrompt="1"/>
          </p:nvPr>
        </p:nvSpPr>
        <p:spPr>
          <a:xfrm>
            <a:off x="1540625" y="1392998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3" hasCustomPrompt="1"/>
          </p:nvPr>
        </p:nvSpPr>
        <p:spPr>
          <a:xfrm>
            <a:off x="1526825" y="305594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38" y="1392998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13" y="305594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6" hasCustomPrompt="1"/>
          </p:nvPr>
        </p:nvSpPr>
        <p:spPr>
          <a:xfrm>
            <a:off x="6896325" y="1392998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7" hasCustomPrompt="1"/>
          </p:nvPr>
        </p:nvSpPr>
        <p:spPr>
          <a:xfrm>
            <a:off x="6868650" y="3055940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720002" y="2184863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3311686" y="2184850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9"/>
          </p:nvPr>
        </p:nvSpPr>
        <p:spPr>
          <a:xfrm>
            <a:off x="5903348" y="2184863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3"/>
          </p:nvPr>
        </p:nvSpPr>
        <p:spPr>
          <a:xfrm>
            <a:off x="719975" y="3847800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4"/>
          </p:nvPr>
        </p:nvSpPr>
        <p:spPr>
          <a:xfrm>
            <a:off x="3311673" y="3847800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5"/>
          </p:nvPr>
        </p:nvSpPr>
        <p:spPr>
          <a:xfrm>
            <a:off x="5903348" y="3847800"/>
            <a:ext cx="25206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00325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 txBox="1">
            <a:spLocks noGrp="1"/>
          </p:cNvSpPr>
          <p:nvPr>
            <p:ph type="title"/>
          </p:nvPr>
        </p:nvSpPr>
        <p:spPr>
          <a:xfrm>
            <a:off x="4471975" y="2747250"/>
            <a:ext cx="39588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title" idx="2" hasCustomPrompt="1"/>
          </p:nvPr>
        </p:nvSpPr>
        <p:spPr>
          <a:xfrm>
            <a:off x="4471975" y="1653738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" name="Google Shape;38;p3"/>
          <p:cNvSpPr>
            <a:spLocks noGrp="1"/>
          </p:cNvSpPr>
          <p:nvPr>
            <p:ph type="pic" idx="3"/>
          </p:nvPr>
        </p:nvSpPr>
        <p:spPr>
          <a:xfrm>
            <a:off x="865625" y="539500"/>
            <a:ext cx="27606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7616372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>
            <a:spLocks noGrp="1"/>
          </p:cNvSpPr>
          <p:nvPr>
            <p:ph type="title"/>
          </p:nvPr>
        </p:nvSpPr>
        <p:spPr>
          <a:xfrm>
            <a:off x="713225" y="1064975"/>
            <a:ext cx="44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subTitle" idx="1"/>
          </p:nvPr>
        </p:nvSpPr>
        <p:spPr>
          <a:xfrm>
            <a:off x="713225" y="1780225"/>
            <a:ext cx="4404000" cy="21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7"/>
          <p:cNvSpPr>
            <a:spLocks noGrp="1"/>
          </p:cNvSpPr>
          <p:nvPr>
            <p:ph type="pic" idx="2"/>
          </p:nvPr>
        </p:nvSpPr>
        <p:spPr>
          <a:xfrm>
            <a:off x="5338975" y="672750"/>
            <a:ext cx="2787000" cy="37980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558617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>
            <a:spLocks noGrp="1"/>
          </p:cNvSpPr>
          <p:nvPr>
            <p:ph type="title"/>
          </p:nvPr>
        </p:nvSpPr>
        <p:spPr>
          <a:xfrm>
            <a:off x="720000" y="5433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6"/>
          <p:cNvSpPr txBox="1">
            <a:spLocks noGrp="1"/>
          </p:cNvSpPr>
          <p:nvPr>
            <p:ph type="subTitle" idx="1"/>
          </p:nvPr>
        </p:nvSpPr>
        <p:spPr>
          <a:xfrm>
            <a:off x="1086750" y="1804025"/>
            <a:ext cx="2952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16"/>
          <p:cNvSpPr txBox="1">
            <a:spLocks noGrp="1"/>
          </p:cNvSpPr>
          <p:nvPr>
            <p:ph type="subTitle" idx="2"/>
          </p:nvPr>
        </p:nvSpPr>
        <p:spPr>
          <a:xfrm>
            <a:off x="5105254" y="1804025"/>
            <a:ext cx="2952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ubTitle" idx="3"/>
          </p:nvPr>
        </p:nvSpPr>
        <p:spPr>
          <a:xfrm>
            <a:off x="1086750" y="3379225"/>
            <a:ext cx="2952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6"/>
          <p:cNvSpPr txBox="1">
            <a:spLocks noGrp="1"/>
          </p:cNvSpPr>
          <p:nvPr>
            <p:ph type="subTitle" idx="4"/>
          </p:nvPr>
        </p:nvSpPr>
        <p:spPr>
          <a:xfrm>
            <a:off x="5105260" y="3379225"/>
            <a:ext cx="2952000" cy="103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6"/>
          <p:cNvSpPr txBox="1">
            <a:spLocks noGrp="1"/>
          </p:cNvSpPr>
          <p:nvPr>
            <p:ph type="subTitle" idx="5"/>
          </p:nvPr>
        </p:nvSpPr>
        <p:spPr>
          <a:xfrm>
            <a:off x="1086738" y="1432425"/>
            <a:ext cx="29520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30" name="Google Shape;230;p16"/>
          <p:cNvSpPr txBox="1">
            <a:spLocks noGrp="1"/>
          </p:cNvSpPr>
          <p:nvPr>
            <p:ph type="subTitle" idx="6"/>
          </p:nvPr>
        </p:nvSpPr>
        <p:spPr>
          <a:xfrm>
            <a:off x="1086738" y="3007650"/>
            <a:ext cx="29520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31" name="Google Shape;231;p16"/>
          <p:cNvSpPr txBox="1">
            <a:spLocks noGrp="1"/>
          </p:cNvSpPr>
          <p:nvPr>
            <p:ph type="subTitle" idx="7"/>
          </p:nvPr>
        </p:nvSpPr>
        <p:spPr>
          <a:xfrm>
            <a:off x="5105225" y="1432425"/>
            <a:ext cx="29520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232" name="Google Shape;232;p16"/>
          <p:cNvSpPr txBox="1">
            <a:spLocks noGrp="1"/>
          </p:cNvSpPr>
          <p:nvPr>
            <p:ph type="subTitle" idx="8"/>
          </p:nvPr>
        </p:nvSpPr>
        <p:spPr>
          <a:xfrm>
            <a:off x="5105225" y="3007650"/>
            <a:ext cx="2952000" cy="37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drich"/>
              <a:buNone/>
              <a:defRPr sz="2400" b="1"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396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dk2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65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12564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4"/>
          <p:cNvSpPr txBox="1">
            <a:spLocks noGrp="1"/>
          </p:cNvSpPr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7863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457200"/>
            <a:ext cx="7765322" cy="72783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299337"/>
            <a:ext cx="7765322" cy="304406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4412457"/>
            <a:ext cx="50046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6515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80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540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3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76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2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039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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255500" indent="-16200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510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8013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09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2329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2"/>
        </a:buClr>
        <a:buSzPct val="70000"/>
        <a:buFont typeface="Wingdings 2" charset="2"/>
        <a:buChar char=""/>
        <a:defRPr sz="10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vlkN1zG3_DzzCg4Mp6NZ-pVDtqi49ze/view?usp=drive_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drive.google.com/file/d/19OjRo5fiCxqVHuiYl9rqteYT2wY3pueP/view?usp=drive_link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5"/>
          <p:cNvGrpSpPr/>
          <p:nvPr/>
        </p:nvGrpSpPr>
        <p:grpSpPr>
          <a:xfrm>
            <a:off x="6716656" y="504358"/>
            <a:ext cx="1632625" cy="461018"/>
            <a:chOff x="-2385729" y="3580104"/>
            <a:chExt cx="1632625" cy="461018"/>
          </a:xfrm>
        </p:grpSpPr>
        <p:sp>
          <p:nvSpPr>
            <p:cNvPr id="325" name="Google Shape;325;p25"/>
            <p:cNvSpPr/>
            <p:nvPr/>
          </p:nvSpPr>
          <p:spPr>
            <a:xfrm rot="5400000">
              <a:off x="-121590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5"/>
            <p:cNvSpPr/>
            <p:nvPr/>
          </p:nvSpPr>
          <p:spPr>
            <a:xfrm rot="5400000">
              <a:off x="-1799925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5"/>
            <p:cNvSpPr/>
            <p:nvPr/>
          </p:nvSpPr>
          <p:spPr>
            <a:xfrm rot="5400000">
              <a:off x="-238395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25"/>
          <p:cNvGrpSpPr/>
          <p:nvPr/>
        </p:nvGrpSpPr>
        <p:grpSpPr>
          <a:xfrm rot="10800000">
            <a:off x="713226" y="3054737"/>
            <a:ext cx="632640" cy="1253501"/>
            <a:chOff x="-3572487" y="2483988"/>
            <a:chExt cx="1284288" cy="2544663"/>
          </a:xfrm>
        </p:grpSpPr>
        <p:sp>
          <p:nvSpPr>
            <p:cNvPr id="329" name="Google Shape;329;p25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-3572487" y="417933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818;p37">
            <a:extLst>
              <a:ext uri="{FF2B5EF4-FFF2-40B4-BE49-F238E27FC236}">
                <a16:creationId xmlns:a16="http://schemas.microsoft.com/office/drawing/2014/main" id="{E2439473-FDD2-4045-9CDC-DF4B9763DC2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117459" y="734867"/>
            <a:ext cx="5063773" cy="131379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Tic Tac Toe</a:t>
            </a:r>
            <a:endParaRPr sz="6600" dirty="0"/>
          </a:p>
        </p:txBody>
      </p:sp>
      <p:sp>
        <p:nvSpPr>
          <p:cNvPr id="17" name="Google Shape;251;p30">
            <a:extLst>
              <a:ext uri="{FF2B5EF4-FFF2-40B4-BE49-F238E27FC236}">
                <a16:creationId xmlns:a16="http://schemas.microsoft.com/office/drawing/2014/main" id="{F3D66D9E-90FF-4744-B3D3-0E096168DC2A}"/>
              </a:ext>
            </a:extLst>
          </p:cNvPr>
          <p:cNvSpPr txBox="1">
            <a:spLocks/>
          </p:cNvSpPr>
          <p:nvPr/>
        </p:nvSpPr>
        <p:spPr>
          <a:xfrm>
            <a:off x="1528682" y="2279174"/>
            <a:ext cx="2478654" cy="16432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2000" b="1" dirty="0">
                <a:solidFill>
                  <a:schemeClr val="tx2"/>
                </a:solidFill>
                <a:latin typeface="Gantari" panose="020B0604020202020204" charset="0"/>
              </a:rPr>
              <a:t>Presented by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Nafis Fuad Barshan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solidFill>
                  <a:schemeClr val="tx2"/>
                </a:solidFill>
                <a:latin typeface="Gantari" panose="020B0604020202020204" charset="0"/>
              </a:rPr>
              <a:t>ID: </a:t>
            </a:r>
            <a:r>
              <a:rPr lang="en-GB" sz="1800" dirty="0">
                <a:latin typeface="Gantari" panose="020B0604020202020204" charset="0"/>
              </a:rPr>
              <a:t>21201166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Tanvir </a:t>
            </a:r>
            <a:r>
              <a:rPr lang="en-GB" sz="1800" dirty="0" err="1">
                <a:latin typeface="Gantari" panose="020B0604020202020204" charset="0"/>
              </a:rPr>
              <a:t>Rahan</a:t>
            </a:r>
            <a:r>
              <a:rPr lang="en-GB" sz="1800" dirty="0">
                <a:latin typeface="Gantari" panose="020B0604020202020204" charset="0"/>
              </a:rPr>
              <a:t> Rifat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solidFill>
                  <a:schemeClr val="tx2"/>
                </a:solidFill>
                <a:latin typeface="Gantari" panose="020B0604020202020204" charset="0"/>
              </a:rPr>
              <a:t>ID: </a:t>
            </a:r>
            <a:r>
              <a:rPr lang="en-GB" sz="1800" dirty="0">
                <a:latin typeface="Gantari" panose="020B0604020202020204" charset="0"/>
              </a:rPr>
              <a:t>22101065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Md. Adnan Asif</a:t>
            </a:r>
          </a:p>
          <a:p>
            <a:pPr marL="0" indent="0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ID: 22101081</a:t>
            </a:r>
          </a:p>
        </p:txBody>
      </p:sp>
      <p:sp>
        <p:nvSpPr>
          <p:cNvPr id="18" name="Google Shape;251;p30">
            <a:extLst>
              <a:ext uri="{FF2B5EF4-FFF2-40B4-BE49-F238E27FC236}">
                <a16:creationId xmlns:a16="http://schemas.microsoft.com/office/drawing/2014/main" id="{AAF87283-E20E-414F-8508-05D94BDAAECC}"/>
              </a:ext>
            </a:extLst>
          </p:cNvPr>
          <p:cNvSpPr txBox="1">
            <a:spLocks/>
          </p:cNvSpPr>
          <p:nvPr/>
        </p:nvSpPr>
        <p:spPr>
          <a:xfrm>
            <a:off x="4890347" y="2389209"/>
            <a:ext cx="2933399" cy="17098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GB" sz="2000" b="1" dirty="0">
                <a:solidFill>
                  <a:schemeClr val="tx2"/>
                </a:solidFill>
                <a:latin typeface="Gantari" panose="020B0604020202020204" charset="0"/>
              </a:rPr>
              <a:t>Presented to</a:t>
            </a:r>
          </a:p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 err="1">
                <a:latin typeface="Gantari" panose="020B0604020202020204" charset="0"/>
              </a:rPr>
              <a:t>Nahida</a:t>
            </a:r>
            <a:r>
              <a:rPr lang="en-GB" sz="1800" dirty="0">
                <a:latin typeface="Gantari" panose="020B0604020202020204" charset="0"/>
              </a:rPr>
              <a:t> </a:t>
            </a:r>
            <a:r>
              <a:rPr lang="en-GB" sz="1800" dirty="0" err="1">
                <a:latin typeface="Gantari" panose="020B0604020202020204" charset="0"/>
              </a:rPr>
              <a:t>Marzan</a:t>
            </a:r>
            <a:endParaRPr lang="en-GB" sz="1800" dirty="0">
              <a:latin typeface="Gantari" panose="020B0604020202020204" charset="0"/>
            </a:endParaRPr>
          </a:p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 err="1">
                <a:latin typeface="Gantari" panose="020B0604020202020204" charset="0"/>
              </a:rPr>
              <a:t>Lecturur</a:t>
            </a:r>
            <a:endParaRPr lang="en-GB" sz="1800" dirty="0">
              <a:latin typeface="Gantari" panose="020B0604020202020204" charset="0"/>
            </a:endParaRPr>
          </a:p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Department of CSE</a:t>
            </a:r>
          </a:p>
          <a:p>
            <a:pPr marL="0" indent="0" algn="r">
              <a:spcBef>
                <a:spcPts val="0"/>
              </a:spcBef>
              <a:buFont typeface="Arial" pitchFamily="34" charset="0"/>
              <a:buNone/>
            </a:pPr>
            <a:r>
              <a:rPr lang="en-GB" sz="1800" dirty="0">
                <a:latin typeface="Gantari" panose="020B0604020202020204" charset="0"/>
              </a:rPr>
              <a:t>University of Asia Pacific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"/>
          <p:cNvSpPr/>
          <p:nvPr/>
        </p:nvSpPr>
        <p:spPr>
          <a:xfrm>
            <a:off x="4177050" y="132625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6854875" y="132625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1499225" y="132625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sp>
        <p:nvSpPr>
          <p:cNvPr id="350" name="Google Shape;350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51" name="Google Shape;351;p27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63" name="Google Shape;363;p27"/>
          <p:cNvSpPr txBox="1">
            <a:spLocks noGrp="1"/>
          </p:cNvSpPr>
          <p:nvPr>
            <p:ph type="title" idx="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2" name="Google Shape;352;p27"/>
          <p:cNvSpPr txBox="1">
            <a:spLocks noGrp="1"/>
          </p:cNvSpPr>
          <p:nvPr>
            <p:ph type="title" idx="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64" name="Google Shape;364;p27"/>
          <p:cNvSpPr txBox="1">
            <a:spLocks noGrp="1"/>
          </p:cNvSpPr>
          <p:nvPr>
            <p:ph type="title" idx="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53" name="Google Shape;353;p27"/>
          <p:cNvSpPr txBox="1">
            <a:spLocks noGrp="1"/>
          </p:cNvSpPr>
          <p:nvPr>
            <p:ph type="title" idx="6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65" name="Google Shape;365;p27"/>
          <p:cNvSpPr txBox="1">
            <a:spLocks noGrp="1"/>
          </p:cNvSpPr>
          <p:nvPr>
            <p:ph type="title" idx="7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54" name="Google Shape;354;p2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Introduction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5" name="Google Shape;355;p27"/>
          <p:cNvSpPr txBox="1">
            <a:spLocks noGrp="1"/>
          </p:cNvSpPr>
          <p:nvPr>
            <p:ph type="subTitle" idx="8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MiniMax Algorithm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6" name="Google Shape;356;p27"/>
          <p:cNvSpPr txBox="1">
            <a:spLocks noGrp="1"/>
          </p:cNvSpPr>
          <p:nvPr>
            <p:ph type="subTitle" idx="9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Alpha B</a:t>
            </a:r>
            <a:r>
              <a:rPr lang="en-US" dirty="0">
                <a:solidFill>
                  <a:schemeClr val="tx1"/>
                </a:solidFill>
              </a:rPr>
              <a:t>e</a:t>
            </a:r>
            <a:r>
              <a:rPr lang="en" dirty="0">
                <a:solidFill>
                  <a:schemeClr val="tx1"/>
                </a:solidFill>
              </a:rPr>
              <a:t>ta Pruning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7" name="Google Shape;357;p27"/>
          <p:cNvSpPr txBox="1">
            <a:spLocks noGrp="1"/>
          </p:cNvSpPr>
          <p:nvPr>
            <p:ph type="subTitle" idx="13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Input/Output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8" name="Google Shape;358;p27"/>
          <p:cNvSpPr txBox="1">
            <a:spLocks noGrp="1"/>
          </p:cNvSpPr>
          <p:nvPr>
            <p:ph type="subTitle" idx="14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Report and Code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59" name="Google Shape;359;p27"/>
          <p:cNvSpPr txBox="1">
            <a:spLocks noGrp="1"/>
          </p:cNvSpPr>
          <p:nvPr>
            <p:ph type="subTitle" idx="15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</a:rPr>
              <a:t>Conclusion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60" name="Google Shape;360;p27"/>
          <p:cNvSpPr/>
          <p:nvPr/>
        </p:nvSpPr>
        <p:spPr>
          <a:xfrm>
            <a:off x="4177050" y="298920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sp>
        <p:nvSpPr>
          <p:cNvPr id="361" name="Google Shape;361;p27"/>
          <p:cNvSpPr/>
          <p:nvPr/>
        </p:nvSpPr>
        <p:spPr>
          <a:xfrm>
            <a:off x="6854875" y="298920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1499252" y="2989207"/>
            <a:ext cx="789900" cy="706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351;p27">
            <a:extLst>
              <a:ext uri="{FF2B5EF4-FFF2-40B4-BE49-F238E27FC236}">
                <a16:creationId xmlns:a16="http://schemas.microsoft.com/office/drawing/2014/main" id="{6493A734-0457-4BD1-9C5A-55F623CA39AD}"/>
              </a:ext>
            </a:extLst>
          </p:cNvPr>
          <p:cNvSpPr txBox="1">
            <a:spLocks/>
          </p:cNvSpPr>
          <p:nvPr/>
        </p:nvSpPr>
        <p:spPr>
          <a:xfrm>
            <a:off x="1540600" y="3055940"/>
            <a:ext cx="734700" cy="572700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342900" rtl="0" eaLnBrk="1" latinLnBrk="0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lvl="1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2pPr>
            <a:lvl3pPr lvl="2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3pPr>
            <a:lvl4pPr lvl="3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4pPr>
            <a:lvl5pPr lvl="4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5pPr>
            <a:lvl6pPr lvl="5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6pPr>
            <a:lvl7pPr lvl="6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7pPr>
            <a:lvl8pPr lvl="7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8pPr>
            <a:lvl9pPr lvl="8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22" name="Google Shape;351;p27">
            <a:extLst>
              <a:ext uri="{FF2B5EF4-FFF2-40B4-BE49-F238E27FC236}">
                <a16:creationId xmlns:a16="http://schemas.microsoft.com/office/drawing/2014/main" id="{0BA503C0-8AFC-430C-9AE4-EF197FD3800D}"/>
              </a:ext>
            </a:extLst>
          </p:cNvPr>
          <p:cNvSpPr txBox="1">
            <a:spLocks/>
          </p:cNvSpPr>
          <p:nvPr/>
        </p:nvSpPr>
        <p:spPr>
          <a:xfrm>
            <a:off x="4218432" y="3055940"/>
            <a:ext cx="734700" cy="572700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342900" rtl="0" eaLnBrk="1" latinLnBrk="0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lvl="1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2pPr>
            <a:lvl3pPr lvl="2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3pPr>
            <a:lvl4pPr lvl="3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4pPr>
            <a:lvl5pPr lvl="4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5pPr>
            <a:lvl6pPr lvl="5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6pPr>
            <a:lvl7pPr lvl="6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7pPr>
            <a:lvl8pPr lvl="7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8pPr>
            <a:lvl9pPr lvl="8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23" name="Google Shape;351;p27">
            <a:extLst>
              <a:ext uri="{FF2B5EF4-FFF2-40B4-BE49-F238E27FC236}">
                <a16:creationId xmlns:a16="http://schemas.microsoft.com/office/drawing/2014/main" id="{3FBCEDFF-05F3-479D-AED0-6D7156C411BB}"/>
              </a:ext>
            </a:extLst>
          </p:cNvPr>
          <p:cNvSpPr txBox="1">
            <a:spLocks/>
          </p:cNvSpPr>
          <p:nvPr/>
        </p:nvSpPr>
        <p:spPr>
          <a:xfrm>
            <a:off x="6902558" y="3055940"/>
            <a:ext cx="734700" cy="572700"/>
          </a:xfrm>
          <a:prstGeom prst="rect">
            <a:avLst/>
          </a:prstGeom>
          <a:noFill/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342900" rtl="0" eaLnBrk="1" latinLnBrk="0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lvl="1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2pPr>
            <a:lvl3pPr lvl="2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3pPr>
            <a:lvl4pPr lvl="3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4pPr>
            <a:lvl5pPr lvl="4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5pPr>
            <a:lvl6pPr lvl="5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6pPr>
            <a:lvl7pPr lvl="6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7pPr>
            <a:lvl8pPr lvl="7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8pPr>
            <a:lvl9pPr lvl="8" rtl="0" eaLnBrk="1" hangingPunct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tx2"/>
                </a:solidFill>
              </a:defRPr>
            </a:lvl9pPr>
          </a:lstStyle>
          <a:p>
            <a:r>
              <a:rPr lang="en" dirty="0"/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2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7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50"/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50"/>
                                        <p:tgtEl>
                                          <p:spTgt spid="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5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75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7" grpId="0" animBg="1"/>
      <p:bldP spid="348" grpId="0" animBg="1"/>
      <p:bldP spid="349" grpId="0" animBg="1"/>
      <p:bldP spid="351" grpId="0"/>
      <p:bldP spid="363" grpId="0"/>
      <p:bldP spid="352" grpId="0"/>
      <p:bldP spid="364" grpId="0"/>
      <p:bldP spid="353" grpId="0"/>
      <p:bldP spid="365" grpId="0"/>
      <p:bldP spid="354" grpId="0" build="p"/>
      <p:bldP spid="355" grpId="0" build="p"/>
      <p:bldP spid="356" grpId="0" build="p"/>
      <p:bldP spid="357" grpId="0" build="p"/>
      <p:bldP spid="358" grpId="0" build="p"/>
      <p:bldP spid="359" grpId="0" build="p"/>
      <p:bldP spid="360" grpId="0" animBg="1"/>
      <p:bldP spid="361" grpId="0" animBg="1"/>
      <p:bldP spid="362" grpId="0" animBg="1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80" name="Google Shape;380;p29"/>
          <p:cNvSpPr txBox="1">
            <a:spLocks noGrp="1"/>
          </p:cNvSpPr>
          <p:nvPr>
            <p:ph type="title" idx="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77" name="Google Shape;377;p29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3461" r="3461"/>
          <a:stretch/>
        </p:blipFill>
        <p:spPr>
          <a:xfrm>
            <a:off x="865625" y="539500"/>
            <a:ext cx="2760600" cy="4064400"/>
          </a:xfrm>
          <a:prstGeom prst="snip2DiagRect">
            <a:avLst>
              <a:gd name="adj1" fmla="val 0"/>
              <a:gd name="adj2" fmla="val 16667"/>
            </a:avLst>
          </a:prstGeom>
        </p:spPr>
      </p:pic>
      <p:sp>
        <p:nvSpPr>
          <p:cNvPr id="378" name="Google Shape;378;p29"/>
          <p:cNvSpPr/>
          <p:nvPr/>
        </p:nvSpPr>
        <p:spPr>
          <a:xfrm>
            <a:off x="4507975" y="1554451"/>
            <a:ext cx="1163700" cy="10404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2"/>
          </a:solidFill>
          <a:ln>
            <a:noFill/>
          </a:ln>
          <a:effectLst>
            <a:outerShdw blurRad="142875" algn="bl" rotWithShape="0">
              <a:schemeClr val="lt1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B1B21"/>
              </a:solidFill>
            </a:endParaRPr>
          </a:p>
        </p:txBody>
      </p:sp>
      <p:grpSp>
        <p:nvGrpSpPr>
          <p:cNvPr id="381" name="Google Shape;381;p29"/>
          <p:cNvGrpSpPr/>
          <p:nvPr/>
        </p:nvGrpSpPr>
        <p:grpSpPr>
          <a:xfrm>
            <a:off x="3837771" y="4142992"/>
            <a:ext cx="1048600" cy="461018"/>
            <a:chOff x="-2385729" y="3580104"/>
            <a:chExt cx="1048600" cy="461018"/>
          </a:xfrm>
        </p:grpSpPr>
        <p:sp>
          <p:nvSpPr>
            <p:cNvPr id="382" name="Google Shape;382;p29"/>
            <p:cNvSpPr/>
            <p:nvPr/>
          </p:nvSpPr>
          <p:spPr>
            <a:xfrm rot="5400000">
              <a:off x="-1799925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5400000">
              <a:off x="-238395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29"/>
          <p:cNvGrpSpPr/>
          <p:nvPr/>
        </p:nvGrpSpPr>
        <p:grpSpPr>
          <a:xfrm rot="5400000">
            <a:off x="7549558" y="437444"/>
            <a:ext cx="632640" cy="836737"/>
            <a:chOff x="-3572487" y="2483988"/>
            <a:chExt cx="1284288" cy="1698613"/>
          </a:xfrm>
        </p:grpSpPr>
        <p:sp>
          <p:nvSpPr>
            <p:cNvPr id="385" name="Google Shape;385;p29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>
            <a:spLocks noGrp="1"/>
          </p:cNvSpPr>
          <p:nvPr>
            <p:ph type="subTitle" idx="1"/>
          </p:nvPr>
        </p:nvSpPr>
        <p:spPr>
          <a:xfrm>
            <a:off x="733545" y="1173322"/>
            <a:ext cx="4404000" cy="31168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Objective: </a:t>
            </a:r>
            <a:r>
              <a:rPr lang="en-US" sz="2000" dirty="0"/>
              <a:t>Develop an intelligent AI for Tic Tac Toe using the Minimax algorithm with Alpha-Beta Pruning.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Game Modes:</a:t>
            </a:r>
          </a:p>
          <a:p>
            <a:pPr marL="285750" indent="-285750" algn="just"/>
            <a:r>
              <a:rPr lang="en-US" sz="2000" dirty="0"/>
              <a:t>Human vs. Computer</a:t>
            </a:r>
          </a:p>
          <a:p>
            <a:pPr marL="285750" indent="-285750" algn="just"/>
            <a:r>
              <a:rPr lang="en-US" sz="2000" dirty="0"/>
              <a:t>Computer vs. Computer</a:t>
            </a:r>
          </a:p>
          <a:p>
            <a:pPr marL="0" indent="0" algn="just">
              <a:buNone/>
            </a:pPr>
            <a:endParaRPr lang="en-US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169618D-C319-4647-B735-F315D705ABD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 rotWithShape="1">
          <a:blip r:embed="rId3"/>
          <a:srcRect l="1603" t="-17078" r="1786" b="-9482"/>
          <a:stretch/>
        </p:blipFill>
        <p:spPr>
          <a:xfrm>
            <a:off x="5440786" y="550652"/>
            <a:ext cx="2754947" cy="3798887"/>
          </a:xfr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B254-5148-4247-BE7A-5B75CDDF7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1003" y="540261"/>
            <a:ext cx="5650991" cy="1434606"/>
          </a:xfrm>
        </p:spPr>
        <p:txBody>
          <a:bodyPr/>
          <a:lstStyle/>
          <a:p>
            <a:r>
              <a:rPr lang="en-US" sz="4000" dirty="0"/>
              <a:t>Minimax Algorithm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8B5A158-DAF8-41ED-8BE0-BAB82E7FFC9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 rotWithShape="1">
          <a:blip r:embed="rId2"/>
          <a:srcRect l="-710" t="-26247" r="-2877" b="-26244"/>
          <a:stretch/>
        </p:blipFill>
        <p:spPr>
          <a:xfrm>
            <a:off x="597409" y="1154830"/>
            <a:ext cx="2169581" cy="3194250"/>
          </a:xfr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007E0C-AF17-44EA-BA55-595B98723455}"/>
              </a:ext>
            </a:extLst>
          </p:cNvPr>
          <p:cNvSpPr txBox="1"/>
          <p:nvPr/>
        </p:nvSpPr>
        <p:spPr>
          <a:xfrm>
            <a:off x="3195829" y="1505460"/>
            <a:ext cx="5267326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800" dirty="0">
                <a:solidFill>
                  <a:schemeClr val="tx1"/>
                </a:solidFill>
                <a:latin typeface="Actor" panose="020B0604020202020204" charset="0"/>
              </a:rPr>
              <a:t>The Minimax Algorithm is widely used in game theory for decision-making. It </a:t>
            </a:r>
          </a:p>
          <a:p>
            <a:pPr algn="just"/>
            <a:r>
              <a:rPr lang="en-GB" sz="1800" dirty="0">
                <a:solidFill>
                  <a:schemeClr val="tx1"/>
                </a:solidFill>
                <a:latin typeface="Actor" panose="020B0604020202020204" charset="0"/>
              </a:rPr>
              <a:t>involves evaluating every possible move to determine the optimal strategy for </a:t>
            </a:r>
          </a:p>
          <a:p>
            <a:pPr algn="just"/>
            <a:r>
              <a:rPr lang="en-GB" sz="1800" dirty="0">
                <a:solidFill>
                  <a:schemeClr val="tx1"/>
                </a:solidFill>
                <a:latin typeface="Actor" panose="020B0604020202020204" charset="0"/>
              </a:rPr>
              <a:t>the AI.</a:t>
            </a:r>
          </a:p>
          <a:p>
            <a:pPr algn="just"/>
            <a:r>
              <a:rPr lang="en-GB" sz="1800" b="1" dirty="0">
                <a:solidFill>
                  <a:schemeClr val="tx2"/>
                </a:solidFill>
                <a:latin typeface="Actor" panose="020B0604020202020204" charset="0"/>
              </a:rPr>
              <a:t>Players</a:t>
            </a:r>
            <a:r>
              <a:rPr lang="en-GB" sz="1800" dirty="0">
                <a:solidFill>
                  <a:schemeClr val="tx2"/>
                </a:solidFill>
                <a:latin typeface="Actor" panose="020B0604020202020204" charset="0"/>
              </a:rPr>
              <a:t>:</a:t>
            </a:r>
          </a:p>
          <a:p>
            <a:pPr marL="342900" lvl="1" indent="-34290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GB" sz="1600" b="1" dirty="0" err="1">
                <a:solidFill>
                  <a:schemeClr val="tx1"/>
                </a:solidFill>
                <a:latin typeface="Actor" panose="020B0604020202020204" charset="0"/>
              </a:rPr>
              <a:t>Maximizer</a:t>
            </a:r>
            <a:r>
              <a:rPr lang="en-GB" sz="1600" b="1" dirty="0">
                <a:solidFill>
                  <a:schemeClr val="tx1"/>
                </a:solidFill>
                <a:latin typeface="Actor" panose="020B0604020202020204" charset="0"/>
              </a:rPr>
              <a:t> (X)</a:t>
            </a:r>
            <a:r>
              <a:rPr lang="en-GB" sz="1600" dirty="0">
                <a:solidFill>
                  <a:schemeClr val="tx1"/>
                </a:solidFill>
                <a:latin typeface="Actor" panose="020B0604020202020204" charset="0"/>
              </a:rPr>
              <a:t>: Aims to maximize the score (win).</a:t>
            </a:r>
          </a:p>
          <a:p>
            <a:pPr marL="342900" lvl="1" indent="-342900" algn="just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n-GB" sz="1600" b="1" dirty="0">
                <a:solidFill>
                  <a:schemeClr val="tx1"/>
                </a:solidFill>
                <a:latin typeface="Actor" panose="020B0604020202020204" charset="0"/>
              </a:rPr>
              <a:t>Minimizer (O)</a:t>
            </a:r>
            <a:r>
              <a:rPr lang="en-GB" sz="1600" dirty="0">
                <a:solidFill>
                  <a:schemeClr val="tx1"/>
                </a:solidFill>
                <a:latin typeface="Actor" panose="020B0604020202020204" charset="0"/>
              </a:rPr>
              <a:t>: Aims to minimize the score (prevent loss).</a:t>
            </a:r>
          </a:p>
        </p:txBody>
      </p:sp>
    </p:spTree>
    <p:extLst>
      <p:ext uri="{BB962C8B-B14F-4D97-AF65-F5344CB8AC3E}">
        <p14:creationId xmlns:p14="http://schemas.microsoft.com/office/powerpoint/2010/main" val="4130122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 txBox="1">
            <a:spLocks noGrp="1"/>
          </p:cNvSpPr>
          <p:nvPr>
            <p:ph type="title"/>
          </p:nvPr>
        </p:nvSpPr>
        <p:spPr>
          <a:xfrm>
            <a:off x="720000" y="3375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Alpha Beta Pruning</a:t>
            </a:r>
            <a:endParaRPr dirty="0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79C1F0C-DE78-43D5-B442-359023039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780" y="1294893"/>
            <a:ext cx="505968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Key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Alpha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: Best score Maximizer can guarantee.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Beta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: Best score Minimizer can guarantee.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Effect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Avoids unnecessary calculations.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Enables deeper exploration of the game tree.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Outcome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ctor" panose="020B0604020202020204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ctor" panose="020B0604020202020204" charset="0"/>
              </a:rPr>
              <a:t>Faster and more efficient decision-making.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ctor" panose="020B060402020202020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E333973-B68E-48C7-AD13-FFB6E0B77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06" y="1116000"/>
            <a:ext cx="3312914" cy="3056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9"/>
          <p:cNvSpPr txBox="1">
            <a:spLocks noGrp="1"/>
          </p:cNvSpPr>
          <p:nvPr>
            <p:ph type="title"/>
          </p:nvPr>
        </p:nvSpPr>
        <p:spPr>
          <a:xfrm>
            <a:off x="2409389" y="2351526"/>
            <a:ext cx="4953965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Input/Output</a:t>
            </a:r>
            <a:endParaRPr dirty="0"/>
          </a:p>
        </p:txBody>
      </p:sp>
      <p:grpSp>
        <p:nvGrpSpPr>
          <p:cNvPr id="381" name="Google Shape;381;p29"/>
          <p:cNvGrpSpPr/>
          <p:nvPr/>
        </p:nvGrpSpPr>
        <p:grpSpPr>
          <a:xfrm>
            <a:off x="3837771" y="4142992"/>
            <a:ext cx="1048600" cy="461018"/>
            <a:chOff x="-2385729" y="3580104"/>
            <a:chExt cx="1048600" cy="461018"/>
          </a:xfrm>
        </p:grpSpPr>
        <p:sp>
          <p:nvSpPr>
            <p:cNvPr id="382" name="Google Shape;382;p29"/>
            <p:cNvSpPr/>
            <p:nvPr/>
          </p:nvSpPr>
          <p:spPr>
            <a:xfrm rot="5400000">
              <a:off x="-1799925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5400000">
              <a:off x="-238395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29"/>
          <p:cNvGrpSpPr/>
          <p:nvPr/>
        </p:nvGrpSpPr>
        <p:grpSpPr>
          <a:xfrm rot="5400000">
            <a:off x="7549558" y="437444"/>
            <a:ext cx="632640" cy="836737"/>
            <a:chOff x="-3572487" y="2483988"/>
            <a:chExt cx="1284288" cy="1698613"/>
          </a:xfrm>
        </p:grpSpPr>
        <p:sp>
          <p:nvSpPr>
            <p:cNvPr id="385" name="Google Shape;385;p29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4357CF4-3C1D-4438-BD50-E363F50B5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261" y="549774"/>
            <a:ext cx="1704171" cy="170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33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9;p29">
            <a:extLst>
              <a:ext uri="{FF2B5EF4-FFF2-40B4-BE49-F238E27FC236}">
                <a16:creationId xmlns:a16="http://schemas.microsoft.com/office/drawing/2014/main" id="{6BE5C219-5FCB-411A-ACAC-4A8DF45D7149}"/>
              </a:ext>
            </a:extLst>
          </p:cNvPr>
          <p:cNvSpPr txBox="1">
            <a:spLocks/>
          </p:cNvSpPr>
          <p:nvPr/>
        </p:nvSpPr>
        <p:spPr>
          <a:xfrm>
            <a:off x="2325569" y="96006"/>
            <a:ext cx="4953965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  <a:latin typeface="Actor" panose="020B0604020202020204" charset="0"/>
              </a:rPr>
              <a:t>Human VS Computer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E8A40-7EDA-4D16-81EC-A44654D5F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04" y="937806"/>
            <a:ext cx="5607592" cy="420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724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9;p29">
            <a:extLst>
              <a:ext uri="{FF2B5EF4-FFF2-40B4-BE49-F238E27FC236}">
                <a16:creationId xmlns:a16="http://schemas.microsoft.com/office/drawing/2014/main" id="{6BE5C219-5FCB-411A-ACAC-4A8DF45D7149}"/>
              </a:ext>
            </a:extLst>
          </p:cNvPr>
          <p:cNvSpPr txBox="1">
            <a:spLocks/>
          </p:cNvSpPr>
          <p:nvPr/>
        </p:nvSpPr>
        <p:spPr>
          <a:xfrm>
            <a:off x="1768204" y="96006"/>
            <a:ext cx="6003091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000" dirty="0">
                <a:solidFill>
                  <a:schemeClr val="tx1"/>
                </a:solidFill>
                <a:latin typeface="Actor" panose="020B0604020202020204" charset="0"/>
              </a:rPr>
              <a:t>Computer VS Computer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FA83D-519B-4654-964A-221192934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204" y="1011555"/>
            <a:ext cx="5509260" cy="4131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727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D4673-18C7-4D74-8F16-EFCFAC619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815" y="391385"/>
            <a:ext cx="7100370" cy="1096830"/>
          </a:xfrm>
        </p:spPr>
        <p:txBody>
          <a:bodyPr/>
          <a:lstStyle/>
          <a:p>
            <a:r>
              <a:rPr lang="en-US" sz="5400" dirty="0"/>
              <a:t>Important Links</a:t>
            </a:r>
          </a:p>
        </p:txBody>
      </p:sp>
      <p:sp>
        <p:nvSpPr>
          <p:cNvPr id="3448" name="Google Shape;3448;p70"/>
          <p:cNvSpPr txBox="1">
            <a:spLocks noGrp="1"/>
          </p:cNvSpPr>
          <p:nvPr>
            <p:ph type="subTitle" idx="4294967295"/>
          </p:nvPr>
        </p:nvSpPr>
        <p:spPr>
          <a:xfrm>
            <a:off x="3966738" y="1643172"/>
            <a:ext cx="3612621" cy="5873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Source code: </a:t>
            </a:r>
            <a:r>
              <a:rPr lang="en-US" sz="2400" b="1" dirty="0">
                <a:solidFill>
                  <a:schemeClr val="tx1"/>
                </a:solidFill>
                <a:hlinkClick r:id="rId3"/>
              </a:rPr>
              <a:t>click here…</a:t>
            </a: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3450" name="Google Shape;3450;p70"/>
          <p:cNvSpPr txBox="1">
            <a:spLocks noGrp="1"/>
          </p:cNvSpPr>
          <p:nvPr>
            <p:ph type="subTitle" idx="4294967295"/>
          </p:nvPr>
        </p:nvSpPr>
        <p:spPr>
          <a:xfrm>
            <a:off x="3966738" y="2982065"/>
            <a:ext cx="4405949" cy="5873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tx1"/>
                </a:solidFill>
              </a:rPr>
              <a:t>Technical Report: </a:t>
            </a:r>
            <a:r>
              <a:rPr lang="en-US" sz="2400" b="1" dirty="0">
                <a:solidFill>
                  <a:schemeClr val="tx1"/>
                </a:solidFill>
                <a:hlinkClick r:id="rId4"/>
              </a:rPr>
              <a:t>click here…</a:t>
            </a:r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3452" name="Google Shape;3452;p70"/>
          <p:cNvSpPr/>
          <p:nvPr/>
        </p:nvSpPr>
        <p:spPr>
          <a:xfrm>
            <a:off x="2744337" y="1643172"/>
            <a:ext cx="740680" cy="640939"/>
          </a:xfrm>
          <a:custGeom>
            <a:avLst/>
            <a:gdLst/>
            <a:ahLst/>
            <a:cxnLst/>
            <a:rect l="l" t="t" r="r" b="b"/>
            <a:pathLst>
              <a:path w="595181" h="523091" extrusionOk="0">
                <a:moveTo>
                  <a:pt x="570330" y="278983"/>
                </a:moveTo>
                <a:lnTo>
                  <a:pt x="577735" y="278983"/>
                </a:lnTo>
                <a:cubicBezTo>
                  <a:pt x="587365" y="278983"/>
                  <a:pt x="595173" y="271176"/>
                  <a:pt x="595173" y="261546"/>
                </a:cubicBezTo>
                <a:cubicBezTo>
                  <a:pt x="595173" y="251916"/>
                  <a:pt x="587365" y="244108"/>
                  <a:pt x="577735" y="244108"/>
                </a:cubicBezTo>
                <a:lnTo>
                  <a:pt x="570330" y="244108"/>
                </a:lnTo>
                <a:lnTo>
                  <a:pt x="593217" y="199799"/>
                </a:lnTo>
                <a:cubicBezTo>
                  <a:pt x="599202" y="188213"/>
                  <a:pt x="590787" y="174358"/>
                  <a:pt x="577727" y="174358"/>
                </a:cubicBezTo>
                <a:lnTo>
                  <a:pt x="509343" y="174358"/>
                </a:lnTo>
                <a:cubicBezTo>
                  <a:pt x="492361" y="126494"/>
                  <a:pt x="461157" y="83722"/>
                  <a:pt x="420449" y="52902"/>
                </a:cubicBezTo>
                <a:cubicBezTo>
                  <a:pt x="374738" y="18295"/>
                  <a:pt x="320192" y="0"/>
                  <a:pt x="262707" y="0"/>
                </a:cubicBezTo>
                <a:cubicBezTo>
                  <a:pt x="117846" y="0"/>
                  <a:pt x="0" y="117328"/>
                  <a:pt x="0" y="261546"/>
                </a:cubicBezTo>
                <a:cubicBezTo>
                  <a:pt x="0" y="405763"/>
                  <a:pt x="117846" y="523091"/>
                  <a:pt x="262707" y="523091"/>
                </a:cubicBezTo>
                <a:cubicBezTo>
                  <a:pt x="320192" y="523091"/>
                  <a:pt x="374738" y="504805"/>
                  <a:pt x="420449" y="470189"/>
                </a:cubicBezTo>
                <a:cubicBezTo>
                  <a:pt x="461166" y="439369"/>
                  <a:pt x="492370" y="396597"/>
                  <a:pt x="509343" y="348733"/>
                </a:cubicBezTo>
                <a:lnTo>
                  <a:pt x="577727" y="348733"/>
                </a:lnTo>
                <a:cubicBezTo>
                  <a:pt x="590760" y="348733"/>
                  <a:pt x="599211" y="334887"/>
                  <a:pt x="593217" y="323292"/>
                </a:cubicBezTo>
                <a:lnTo>
                  <a:pt x="570330" y="278983"/>
                </a:lnTo>
                <a:close/>
                <a:moveTo>
                  <a:pt x="531077" y="244108"/>
                </a:moveTo>
                <a:lnTo>
                  <a:pt x="465293" y="244108"/>
                </a:lnTo>
                <a:lnTo>
                  <a:pt x="482731" y="209242"/>
                </a:lnTo>
                <a:lnTo>
                  <a:pt x="549105" y="209242"/>
                </a:lnTo>
                <a:lnTo>
                  <a:pt x="531086" y="244108"/>
                </a:lnTo>
                <a:close/>
                <a:moveTo>
                  <a:pt x="383519" y="244108"/>
                </a:moveTo>
                <a:cubicBezTo>
                  <a:pt x="375032" y="185042"/>
                  <a:pt x="324096" y="139492"/>
                  <a:pt x="262716" y="139492"/>
                </a:cubicBezTo>
                <a:cubicBezTo>
                  <a:pt x="195413" y="139492"/>
                  <a:pt x="140662" y="194243"/>
                  <a:pt x="140662" y="261546"/>
                </a:cubicBezTo>
                <a:cubicBezTo>
                  <a:pt x="140662" y="328848"/>
                  <a:pt x="195413" y="383600"/>
                  <a:pt x="262716" y="383600"/>
                </a:cubicBezTo>
                <a:cubicBezTo>
                  <a:pt x="324096" y="383600"/>
                  <a:pt x="375032" y="338058"/>
                  <a:pt x="383519" y="278983"/>
                </a:cubicBezTo>
                <a:lnTo>
                  <a:pt x="418671" y="278983"/>
                </a:lnTo>
                <a:cubicBezTo>
                  <a:pt x="409970" y="357336"/>
                  <a:pt x="343355" y="418475"/>
                  <a:pt x="262716" y="418475"/>
                </a:cubicBezTo>
                <a:cubicBezTo>
                  <a:pt x="176189" y="418475"/>
                  <a:pt x="105787" y="348081"/>
                  <a:pt x="105787" y="261546"/>
                </a:cubicBezTo>
                <a:cubicBezTo>
                  <a:pt x="105787" y="175010"/>
                  <a:pt x="176180" y="104616"/>
                  <a:pt x="262716" y="104616"/>
                </a:cubicBezTo>
                <a:cubicBezTo>
                  <a:pt x="343355" y="104616"/>
                  <a:pt x="409970" y="165755"/>
                  <a:pt x="418671" y="244108"/>
                </a:cubicBezTo>
                <a:lnTo>
                  <a:pt x="383519" y="244108"/>
                </a:lnTo>
                <a:close/>
                <a:moveTo>
                  <a:pt x="312027" y="244108"/>
                </a:moveTo>
                <a:cubicBezTo>
                  <a:pt x="304827" y="223812"/>
                  <a:pt x="285451" y="209242"/>
                  <a:pt x="262716" y="209242"/>
                </a:cubicBezTo>
                <a:cubicBezTo>
                  <a:pt x="233870" y="209242"/>
                  <a:pt x="210412" y="232700"/>
                  <a:pt x="210412" y="261546"/>
                </a:cubicBezTo>
                <a:cubicBezTo>
                  <a:pt x="210412" y="290391"/>
                  <a:pt x="233870" y="313858"/>
                  <a:pt x="262716" y="313858"/>
                </a:cubicBezTo>
                <a:cubicBezTo>
                  <a:pt x="285451" y="313858"/>
                  <a:pt x="304827" y="299279"/>
                  <a:pt x="312027" y="278983"/>
                </a:cubicBezTo>
                <a:lnTo>
                  <a:pt x="348144" y="278983"/>
                </a:lnTo>
                <a:cubicBezTo>
                  <a:pt x="340050" y="318727"/>
                  <a:pt x="304818" y="348733"/>
                  <a:pt x="262716" y="348733"/>
                </a:cubicBezTo>
                <a:cubicBezTo>
                  <a:pt x="214646" y="348733"/>
                  <a:pt x="175537" y="309624"/>
                  <a:pt x="175537" y="261546"/>
                </a:cubicBezTo>
                <a:cubicBezTo>
                  <a:pt x="175537" y="213467"/>
                  <a:pt x="214646" y="174367"/>
                  <a:pt x="262716" y="174367"/>
                </a:cubicBezTo>
                <a:cubicBezTo>
                  <a:pt x="304818" y="174367"/>
                  <a:pt x="340041" y="204364"/>
                  <a:pt x="348144" y="244108"/>
                </a:cubicBezTo>
                <a:lnTo>
                  <a:pt x="312027" y="244108"/>
                </a:lnTo>
                <a:close/>
                <a:moveTo>
                  <a:pt x="280153" y="261546"/>
                </a:moveTo>
                <a:cubicBezTo>
                  <a:pt x="280153" y="271158"/>
                  <a:pt x="272337" y="278983"/>
                  <a:pt x="262716" y="278983"/>
                </a:cubicBezTo>
                <a:cubicBezTo>
                  <a:pt x="253095" y="278983"/>
                  <a:pt x="245278" y="271158"/>
                  <a:pt x="245278" y="261546"/>
                </a:cubicBezTo>
                <a:cubicBezTo>
                  <a:pt x="245278" y="251933"/>
                  <a:pt x="253104" y="244108"/>
                  <a:pt x="262716" y="244108"/>
                </a:cubicBezTo>
                <a:cubicBezTo>
                  <a:pt x="272328" y="244108"/>
                  <a:pt x="280153" y="251933"/>
                  <a:pt x="280153" y="261546"/>
                </a:cubicBezTo>
                <a:close/>
                <a:moveTo>
                  <a:pt x="262716" y="488225"/>
                </a:moveTo>
                <a:cubicBezTo>
                  <a:pt x="137089" y="488225"/>
                  <a:pt x="34884" y="386539"/>
                  <a:pt x="34884" y="261546"/>
                </a:cubicBezTo>
                <a:cubicBezTo>
                  <a:pt x="34884" y="136553"/>
                  <a:pt x="137089" y="34875"/>
                  <a:pt x="262716" y="34875"/>
                </a:cubicBezTo>
                <a:cubicBezTo>
                  <a:pt x="354281" y="34875"/>
                  <a:pt x="437199" y="91181"/>
                  <a:pt x="472002" y="174367"/>
                </a:cubicBezTo>
                <a:lnTo>
                  <a:pt x="471949" y="174367"/>
                </a:lnTo>
                <a:cubicBezTo>
                  <a:pt x="465338" y="174367"/>
                  <a:pt x="459308" y="178101"/>
                  <a:pt x="456351" y="184006"/>
                </a:cubicBezTo>
                <a:lnTo>
                  <a:pt x="445944" y="204820"/>
                </a:lnTo>
                <a:cubicBezTo>
                  <a:pt x="421700" y="126664"/>
                  <a:pt x="348725" y="69750"/>
                  <a:pt x="262707" y="69750"/>
                </a:cubicBezTo>
                <a:cubicBezTo>
                  <a:pt x="156947" y="69750"/>
                  <a:pt x="70911" y="155795"/>
                  <a:pt x="70911" y="261554"/>
                </a:cubicBezTo>
                <a:cubicBezTo>
                  <a:pt x="70911" y="367314"/>
                  <a:pt x="156956" y="453359"/>
                  <a:pt x="262707" y="453359"/>
                </a:cubicBezTo>
                <a:cubicBezTo>
                  <a:pt x="348725" y="453359"/>
                  <a:pt x="421700" y="396437"/>
                  <a:pt x="445944" y="318289"/>
                </a:cubicBezTo>
                <a:lnTo>
                  <a:pt x="456351" y="339103"/>
                </a:lnTo>
                <a:cubicBezTo>
                  <a:pt x="459308" y="345008"/>
                  <a:pt x="465338" y="348742"/>
                  <a:pt x="471949" y="348742"/>
                </a:cubicBezTo>
                <a:lnTo>
                  <a:pt x="472002" y="348742"/>
                </a:lnTo>
                <a:cubicBezTo>
                  <a:pt x="437199" y="431928"/>
                  <a:pt x="354272" y="488234"/>
                  <a:pt x="262716" y="488234"/>
                </a:cubicBezTo>
                <a:close/>
                <a:moveTo>
                  <a:pt x="482731" y="313858"/>
                </a:moveTo>
                <a:lnTo>
                  <a:pt x="465293" y="278983"/>
                </a:lnTo>
                <a:lnTo>
                  <a:pt x="531077" y="278983"/>
                </a:lnTo>
                <a:lnTo>
                  <a:pt x="549096" y="313858"/>
                </a:lnTo>
                <a:lnTo>
                  <a:pt x="482722" y="313858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56" name="Google Shape;3456;p70"/>
          <p:cNvGrpSpPr/>
          <p:nvPr/>
        </p:nvGrpSpPr>
        <p:grpSpPr>
          <a:xfrm>
            <a:off x="2744337" y="2919593"/>
            <a:ext cx="646375" cy="640939"/>
            <a:chOff x="5151798" y="5035634"/>
            <a:chExt cx="596351" cy="596349"/>
          </a:xfrm>
        </p:grpSpPr>
        <p:sp>
          <p:nvSpPr>
            <p:cNvPr id="3457" name="Google Shape;3457;p70"/>
            <p:cNvSpPr/>
            <p:nvPr/>
          </p:nvSpPr>
          <p:spPr>
            <a:xfrm>
              <a:off x="5151798" y="5035634"/>
              <a:ext cx="596351" cy="596349"/>
            </a:xfrm>
            <a:custGeom>
              <a:avLst/>
              <a:gdLst/>
              <a:ahLst/>
              <a:cxnLst/>
              <a:rect l="l" t="t" r="r" b="b"/>
              <a:pathLst>
                <a:path w="596351" h="596349" extrusionOk="0">
                  <a:moveTo>
                    <a:pt x="560226" y="245758"/>
                  </a:moveTo>
                  <a:lnTo>
                    <a:pt x="578861" y="245758"/>
                  </a:lnTo>
                  <a:cubicBezTo>
                    <a:pt x="588509" y="245758"/>
                    <a:pt x="596334" y="237933"/>
                    <a:pt x="596334" y="228285"/>
                  </a:cubicBezTo>
                  <a:lnTo>
                    <a:pt x="596334" y="158401"/>
                  </a:lnTo>
                  <a:cubicBezTo>
                    <a:pt x="596334" y="151790"/>
                    <a:pt x="592609" y="145752"/>
                    <a:pt x="586704" y="142785"/>
                  </a:cubicBezTo>
                  <a:lnTo>
                    <a:pt x="306006" y="1856"/>
                  </a:lnTo>
                  <a:cubicBezTo>
                    <a:pt x="301075" y="-619"/>
                    <a:pt x="295259" y="-619"/>
                    <a:pt x="290328" y="1856"/>
                  </a:cubicBezTo>
                  <a:lnTo>
                    <a:pt x="9630" y="142785"/>
                  </a:lnTo>
                  <a:cubicBezTo>
                    <a:pt x="3725" y="145752"/>
                    <a:pt x="0" y="151790"/>
                    <a:pt x="0" y="158401"/>
                  </a:cubicBezTo>
                  <a:lnTo>
                    <a:pt x="0" y="228285"/>
                  </a:lnTo>
                  <a:cubicBezTo>
                    <a:pt x="0" y="237933"/>
                    <a:pt x="7825" y="245758"/>
                    <a:pt x="17473" y="245758"/>
                  </a:cubicBezTo>
                  <a:lnTo>
                    <a:pt x="36108" y="245758"/>
                  </a:lnTo>
                  <a:lnTo>
                    <a:pt x="36108" y="491519"/>
                  </a:lnTo>
                  <a:lnTo>
                    <a:pt x="17473" y="491519"/>
                  </a:lnTo>
                  <a:cubicBezTo>
                    <a:pt x="7825" y="491519"/>
                    <a:pt x="0" y="499344"/>
                    <a:pt x="0" y="508992"/>
                  </a:cubicBezTo>
                  <a:lnTo>
                    <a:pt x="0" y="578876"/>
                  </a:lnTo>
                  <a:cubicBezTo>
                    <a:pt x="0" y="588524"/>
                    <a:pt x="7825" y="596350"/>
                    <a:pt x="17473" y="596350"/>
                  </a:cubicBezTo>
                  <a:lnTo>
                    <a:pt x="578879" y="596350"/>
                  </a:lnTo>
                  <a:cubicBezTo>
                    <a:pt x="588527" y="596350"/>
                    <a:pt x="596352" y="588524"/>
                    <a:pt x="596352" y="578876"/>
                  </a:cubicBezTo>
                  <a:lnTo>
                    <a:pt x="596352" y="508992"/>
                  </a:lnTo>
                  <a:cubicBezTo>
                    <a:pt x="596352" y="499344"/>
                    <a:pt x="588527" y="491519"/>
                    <a:pt x="578879" y="491519"/>
                  </a:cubicBezTo>
                  <a:lnTo>
                    <a:pt x="560244" y="491519"/>
                  </a:lnTo>
                  <a:lnTo>
                    <a:pt x="560244" y="245758"/>
                  </a:lnTo>
                  <a:close/>
                  <a:moveTo>
                    <a:pt x="182496" y="561403"/>
                  </a:moveTo>
                  <a:lnTo>
                    <a:pt x="34929" y="561403"/>
                  </a:lnTo>
                  <a:lnTo>
                    <a:pt x="34929" y="526457"/>
                  </a:lnTo>
                  <a:lnTo>
                    <a:pt x="199817" y="526457"/>
                  </a:lnTo>
                  <a:lnTo>
                    <a:pt x="182496" y="561403"/>
                  </a:lnTo>
                  <a:close/>
                  <a:moveTo>
                    <a:pt x="235059" y="455411"/>
                  </a:moveTo>
                  <a:lnTo>
                    <a:pt x="217148" y="491519"/>
                  </a:lnTo>
                  <a:lnTo>
                    <a:pt x="71037" y="491519"/>
                  </a:lnTo>
                  <a:lnTo>
                    <a:pt x="71037" y="455411"/>
                  </a:lnTo>
                  <a:lnTo>
                    <a:pt x="235059" y="455411"/>
                  </a:lnTo>
                  <a:close/>
                  <a:moveTo>
                    <a:pt x="71037" y="420465"/>
                  </a:moveTo>
                  <a:lnTo>
                    <a:pt x="71037" y="245749"/>
                  </a:lnTo>
                  <a:lnTo>
                    <a:pt x="105983" y="245749"/>
                  </a:lnTo>
                  <a:lnTo>
                    <a:pt x="105983" y="420465"/>
                  </a:lnTo>
                  <a:lnTo>
                    <a:pt x="71037" y="420465"/>
                  </a:lnTo>
                  <a:close/>
                  <a:moveTo>
                    <a:pt x="140921" y="420465"/>
                  </a:moveTo>
                  <a:lnTo>
                    <a:pt x="140921" y="245749"/>
                  </a:lnTo>
                  <a:lnTo>
                    <a:pt x="245752" y="245749"/>
                  </a:lnTo>
                  <a:lnTo>
                    <a:pt x="245752" y="420465"/>
                  </a:lnTo>
                  <a:lnTo>
                    <a:pt x="140921" y="420465"/>
                  </a:lnTo>
                  <a:close/>
                  <a:moveTo>
                    <a:pt x="221498" y="561394"/>
                  </a:moveTo>
                  <a:lnTo>
                    <a:pt x="274061" y="455402"/>
                  </a:lnTo>
                  <a:lnTo>
                    <a:pt x="322273" y="455402"/>
                  </a:lnTo>
                  <a:lnTo>
                    <a:pt x="374836" y="561394"/>
                  </a:lnTo>
                  <a:lnTo>
                    <a:pt x="221507" y="561394"/>
                  </a:lnTo>
                  <a:close/>
                  <a:moveTo>
                    <a:pt x="280689" y="420465"/>
                  </a:moveTo>
                  <a:lnTo>
                    <a:pt x="280689" y="245749"/>
                  </a:lnTo>
                  <a:lnTo>
                    <a:pt x="315636" y="245749"/>
                  </a:lnTo>
                  <a:lnTo>
                    <a:pt x="315636" y="420465"/>
                  </a:lnTo>
                  <a:lnTo>
                    <a:pt x="280689" y="420465"/>
                  </a:lnTo>
                  <a:close/>
                  <a:moveTo>
                    <a:pt x="525289" y="455411"/>
                  </a:moveTo>
                  <a:lnTo>
                    <a:pt x="525289" y="491519"/>
                  </a:lnTo>
                  <a:lnTo>
                    <a:pt x="379178" y="491519"/>
                  </a:lnTo>
                  <a:lnTo>
                    <a:pt x="361267" y="455411"/>
                  </a:lnTo>
                  <a:lnTo>
                    <a:pt x="525289" y="455411"/>
                  </a:lnTo>
                  <a:close/>
                  <a:moveTo>
                    <a:pt x="490342" y="420465"/>
                  </a:moveTo>
                  <a:lnTo>
                    <a:pt x="490342" y="245749"/>
                  </a:lnTo>
                  <a:lnTo>
                    <a:pt x="525289" y="245749"/>
                  </a:lnTo>
                  <a:lnTo>
                    <a:pt x="525289" y="420465"/>
                  </a:lnTo>
                  <a:lnTo>
                    <a:pt x="490342" y="420465"/>
                  </a:lnTo>
                  <a:close/>
                  <a:moveTo>
                    <a:pt x="455395" y="420465"/>
                  </a:moveTo>
                  <a:lnTo>
                    <a:pt x="350565" y="420465"/>
                  </a:lnTo>
                  <a:lnTo>
                    <a:pt x="350565" y="245749"/>
                  </a:lnTo>
                  <a:lnTo>
                    <a:pt x="455395" y="245749"/>
                  </a:lnTo>
                  <a:lnTo>
                    <a:pt x="455395" y="420465"/>
                  </a:lnTo>
                  <a:close/>
                  <a:moveTo>
                    <a:pt x="561388" y="526457"/>
                  </a:moveTo>
                  <a:lnTo>
                    <a:pt x="561388" y="561403"/>
                  </a:lnTo>
                  <a:lnTo>
                    <a:pt x="413820" y="561403"/>
                  </a:lnTo>
                  <a:lnTo>
                    <a:pt x="396499" y="526457"/>
                  </a:lnTo>
                  <a:lnTo>
                    <a:pt x="561388" y="526457"/>
                  </a:lnTo>
                  <a:close/>
                  <a:moveTo>
                    <a:pt x="34929" y="210812"/>
                  </a:moveTo>
                  <a:lnTo>
                    <a:pt x="34929" y="169174"/>
                  </a:lnTo>
                  <a:lnTo>
                    <a:pt x="298163" y="37017"/>
                  </a:lnTo>
                  <a:lnTo>
                    <a:pt x="561397" y="169174"/>
                  </a:lnTo>
                  <a:lnTo>
                    <a:pt x="561397" y="210812"/>
                  </a:lnTo>
                  <a:lnTo>
                    <a:pt x="34938" y="2108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70"/>
            <p:cNvSpPr/>
            <p:nvPr/>
          </p:nvSpPr>
          <p:spPr>
            <a:xfrm>
              <a:off x="5397541" y="5106677"/>
              <a:ext cx="104822" cy="104822"/>
            </a:xfrm>
            <a:custGeom>
              <a:avLst/>
              <a:gdLst/>
              <a:ahLst/>
              <a:cxnLst/>
              <a:rect l="l" t="t" r="r" b="b"/>
              <a:pathLst>
                <a:path w="104822" h="104822" extrusionOk="0">
                  <a:moveTo>
                    <a:pt x="52411" y="0"/>
                  </a:moveTo>
                  <a:cubicBezTo>
                    <a:pt x="23512" y="0"/>
                    <a:pt x="0" y="23512"/>
                    <a:pt x="0" y="52411"/>
                  </a:cubicBezTo>
                  <a:cubicBezTo>
                    <a:pt x="0" y="81310"/>
                    <a:pt x="23512" y="104822"/>
                    <a:pt x="52411" y="104822"/>
                  </a:cubicBezTo>
                  <a:cubicBezTo>
                    <a:pt x="81310" y="104822"/>
                    <a:pt x="104822" y="81310"/>
                    <a:pt x="104822" y="52411"/>
                  </a:cubicBezTo>
                  <a:cubicBezTo>
                    <a:pt x="104822" y="23512"/>
                    <a:pt x="81310" y="0"/>
                    <a:pt x="52411" y="0"/>
                  </a:cubicBezTo>
                  <a:close/>
                  <a:moveTo>
                    <a:pt x="52411" y="69884"/>
                  </a:moveTo>
                  <a:cubicBezTo>
                    <a:pt x="42781" y="69884"/>
                    <a:pt x="34938" y="62041"/>
                    <a:pt x="34938" y="52411"/>
                  </a:cubicBezTo>
                  <a:cubicBezTo>
                    <a:pt x="34938" y="42781"/>
                    <a:pt x="42781" y="34938"/>
                    <a:pt x="52411" y="34938"/>
                  </a:cubicBezTo>
                  <a:cubicBezTo>
                    <a:pt x="62041" y="34938"/>
                    <a:pt x="69884" y="42772"/>
                    <a:pt x="69884" y="52411"/>
                  </a:cubicBezTo>
                  <a:cubicBezTo>
                    <a:pt x="69884" y="62050"/>
                    <a:pt x="62041" y="69884"/>
                    <a:pt x="52411" y="6988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D1098C-5863-46DC-9763-ABE33BD63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0" y="3440430"/>
            <a:ext cx="1531620" cy="15316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FB0B62-0E61-4B1A-92F0-71B4B4037E70}"/>
              </a:ext>
            </a:extLst>
          </p:cNvPr>
          <p:cNvSpPr txBox="1"/>
          <p:nvPr/>
        </p:nvSpPr>
        <p:spPr>
          <a:xfrm>
            <a:off x="2804160" y="464820"/>
            <a:ext cx="37882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tx1"/>
                </a:solidFill>
                <a:latin typeface="Actor" panose="020B060402020202020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9C5327-A789-41EE-B75C-0138B99A8EF3}"/>
              </a:ext>
            </a:extLst>
          </p:cNvPr>
          <p:cNvSpPr txBox="1"/>
          <p:nvPr/>
        </p:nvSpPr>
        <p:spPr>
          <a:xfrm>
            <a:off x="1805940" y="1889998"/>
            <a:ext cx="60655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>
                <a:solidFill>
                  <a:schemeClr val="tx1"/>
                </a:solidFill>
                <a:latin typeface="Actor" panose="020B0604020202020204" charset="0"/>
              </a:rPr>
              <a:t>Building a Tic Tac Toe game with the Minimax Algorithm and Alpha-Beta Pruning is a great way to learn about AI and game development. Alpha-Beta Pruning helps make the AI more efficient, saving time while still playing well</a:t>
            </a:r>
            <a:endParaRPr lang="en-US" sz="2000" dirty="0">
              <a:solidFill>
                <a:schemeClr val="tx1"/>
              </a:solidFill>
              <a:latin typeface="Acto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6144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4"/>
          <p:cNvSpPr txBox="1">
            <a:spLocks noGrp="1"/>
          </p:cNvSpPr>
          <p:nvPr>
            <p:ph type="title"/>
          </p:nvPr>
        </p:nvSpPr>
        <p:spPr>
          <a:xfrm>
            <a:off x="1377270" y="2025581"/>
            <a:ext cx="6389460" cy="152855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dirty="0"/>
              <a:t>Thank You</a:t>
            </a:r>
            <a:endParaRPr sz="6600" dirty="0"/>
          </a:p>
        </p:txBody>
      </p:sp>
      <p:grpSp>
        <p:nvGrpSpPr>
          <p:cNvPr id="691" name="Google Shape;691;p44"/>
          <p:cNvGrpSpPr/>
          <p:nvPr/>
        </p:nvGrpSpPr>
        <p:grpSpPr>
          <a:xfrm rot="10800000">
            <a:off x="784413" y="3668819"/>
            <a:ext cx="1632625" cy="461018"/>
            <a:chOff x="-2385729" y="3580104"/>
            <a:chExt cx="1632625" cy="461018"/>
          </a:xfrm>
        </p:grpSpPr>
        <p:sp>
          <p:nvSpPr>
            <p:cNvPr id="692" name="Google Shape;692;p44"/>
            <p:cNvSpPr/>
            <p:nvPr/>
          </p:nvSpPr>
          <p:spPr>
            <a:xfrm rot="5400000">
              <a:off x="-121590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44"/>
            <p:cNvSpPr/>
            <p:nvPr/>
          </p:nvSpPr>
          <p:spPr>
            <a:xfrm rot="5400000">
              <a:off x="-1799925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44"/>
            <p:cNvSpPr/>
            <p:nvPr/>
          </p:nvSpPr>
          <p:spPr>
            <a:xfrm rot="5400000">
              <a:off x="-2383950" y="3578326"/>
              <a:ext cx="461018" cy="464575"/>
            </a:xfrm>
            <a:custGeom>
              <a:avLst/>
              <a:gdLst/>
              <a:ahLst/>
              <a:cxnLst/>
              <a:rect l="l" t="t" r="r" b="b"/>
              <a:pathLst>
                <a:path w="272" h="272" extrusionOk="0">
                  <a:moveTo>
                    <a:pt x="271" y="229"/>
                  </a:moveTo>
                  <a:cubicBezTo>
                    <a:pt x="230" y="270"/>
                    <a:pt x="230" y="270"/>
                    <a:pt x="230" y="270"/>
                  </a:cubicBezTo>
                  <a:cubicBezTo>
                    <a:pt x="229" y="272"/>
                    <a:pt x="227" y="272"/>
                    <a:pt x="225" y="270"/>
                  </a:cubicBezTo>
                  <a:cubicBezTo>
                    <a:pt x="139" y="184"/>
                    <a:pt x="139" y="184"/>
                    <a:pt x="139" y="184"/>
                  </a:cubicBezTo>
                  <a:cubicBezTo>
                    <a:pt x="137" y="182"/>
                    <a:pt x="135" y="182"/>
                    <a:pt x="134" y="184"/>
                  </a:cubicBezTo>
                  <a:cubicBezTo>
                    <a:pt x="47" y="270"/>
                    <a:pt x="47" y="270"/>
                    <a:pt x="47" y="270"/>
                  </a:cubicBezTo>
                  <a:cubicBezTo>
                    <a:pt x="46" y="272"/>
                    <a:pt x="44" y="272"/>
                    <a:pt x="43" y="270"/>
                  </a:cubicBezTo>
                  <a:cubicBezTo>
                    <a:pt x="2" y="229"/>
                    <a:pt x="2" y="229"/>
                    <a:pt x="2" y="229"/>
                  </a:cubicBezTo>
                  <a:cubicBezTo>
                    <a:pt x="0" y="228"/>
                    <a:pt x="0" y="226"/>
                    <a:pt x="2" y="225"/>
                  </a:cubicBezTo>
                  <a:cubicBezTo>
                    <a:pt x="88" y="138"/>
                    <a:pt x="88" y="138"/>
                    <a:pt x="88" y="138"/>
                  </a:cubicBezTo>
                  <a:cubicBezTo>
                    <a:pt x="90" y="137"/>
                    <a:pt x="90" y="135"/>
                    <a:pt x="88" y="133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0" y="45"/>
                    <a:pt x="0" y="43"/>
                    <a:pt x="2" y="42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4" y="0"/>
                    <a:pt x="46" y="0"/>
                    <a:pt x="47" y="1"/>
                  </a:cubicBezTo>
                  <a:cubicBezTo>
                    <a:pt x="134" y="88"/>
                    <a:pt x="134" y="88"/>
                    <a:pt x="134" y="88"/>
                  </a:cubicBezTo>
                  <a:cubicBezTo>
                    <a:pt x="135" y="89"/>
                    <a:pt x="137" y="89"/>
                    <a:pt x="139" y="88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0"/>
                    <a:pt x="229" y="0"/>
                    <a:pt x="230" y="1"/>
                  </a:cubicBezTo>
                  <a:cubicBezTo>
                    <a:pt x="271" y="42"/>
                    <a:pt x="271" y="42"/>
                    <a:pt x="271" y="42"/>
                  </a:cubicBezTo>
                  <a:cubicBezTo>
                    <a:pt x="272" y="43"/>
                    <a:pt x="272" y="45"/>
                    <a:pt x="271" y="47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3" y="135"/>
                    <a:pt x="183" y="137"/>
                    <a:pt x="184" y="138"/>
                  </a:cubicBezTo>
                  <a:cubicBezTo>
                    <a:pt x="271" y="225"/>
                    <a:pt x="271" y="225"/>
                    <a:pt x="271" y="225"/>
                  </a:cubicBezTo>
                  <a:cubicBezTo>
                    <a:pt x="272" y="226"/>
                    <a:pt x="272" y="228"/>
                    <a:pt x="271" y="229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5" name="Google Shape;695;p44"/>
          <p:cNvGrpSpPr/>
          <p:nvPr/>
        </p:nvGrpSpPr>
        <p:grpSpPr>
          <a:xfrm>
            <a:off x="7726869" y="1013667"/>
            <a:ext cx="632640" cy="1253501"/>
            <a:chOff x="-3572487" y="2483988"/>
            <a:chExt cx="1284288" cy="2544663"/>
          </a:xfrm>
        </p:grpSpPr>
        <p:sp>
          <p:nvSpPr>
            <p:cNvPr id="696" name="Google Shape;696;p44"/>
            <p:cNvSpPr/>
            <p:nvPr/>
          </p:nvSpPr>
          <p:spPr>
            <a:xfrm>
              <a:off x="-3572487" y="24839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-3572487" y="333328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44"/>
            <p:cNvSpPr/>
            <p:nvPr/>
          </p:nvSpPr>
          <p:spPr>
            <a:xfrm>
              <a:off x="-3572487" y="4179338"/>
              <a:ext cx="1284288" cy="849313"/>
            </a:xfrm>
            <a:custGeom>
              <a:avLst/>
              <a:gdLst/>
              <a:ahLst/>
              <a:cxnLst/>
              <a:rect l="l" t="t" r="r" b="b"/>
              <a:pathLst>
                <a:path w="340" h="223" extrusionOk="0">
                  <a:moveTo>
                    <a:pt x="337" y="48"/>
                  </a:moveTo>
                  <a:cubicBezTo>
                    <a:pt x="293" y="3"/>
                    <a:pt x="293" y="3"/>
                    <a:pt x="293" y="3"/>
                  </a:cubicBezTo>
                  <a:cubicBezTo>
                    <a:pt x="290" y="0"/>
                    <a:pt x="285" y="0"/>
                    <a:pt x="283" y="3"/>
                  </a:cubicBezTo>
                  <a:cubicBezTo>
                    <a:pt x="170" y="116"/>
                    <a:pt x="170" y="116"/>
                    <a:pt x="170" y="116"/>
                  </a:cubicBezTo>
                  <a:cubicBezTo>
                    <a:pt x="57" y="3"/>
                    <a:pt x="57" y="3"/>
                    <a:pt x="57" y="3"/>
                  </a:cubicBezTo>
                  <a:cubicBezTo>
                    <a:pt x="55" y="2"/>
                    <a:pt x="54" y="1"/>
                    <a:pt x="52" y="1"/>
                  </a:cubicBezTo>
                  <a:cubicBezTo>
                    <a:pt x="50" y="1"/>
                    <a:pt x="48" y="2"/>
                    <a:pt x="47" y="3"/>
                  </a:cubicBezTo>
                  <a:cubicBezTo>
                    <a:pt x="2" y="48"/>
                    <a:pt x="2" y="48"/>
                    <a:pt x="2" y="48"/>
                  </a:cubicBezTo>
                  <a:cubicBezTo>
                    <a:pt x="1" y="49"/>
                    <a:pt x="0" y="51"/>
                    <a:pt x="0" y="53"/>
                  </a:cubicBezTo>
                  <a:cubicBezTo>
                    <a:pt x="0" y="55"/>
                    <a:pt x="1" y="56"/>
                    <a:pt x="2" y="58"/>
                  </a:cubicBezTo>
                  <a:cubicBezTo>
                    <a:pt x="165" y="220"/>
                    <a:pt x="165" y="220"/>
                    <a:pt x="165" y="220"/>
                  </a:cubicBezTo>
                  <a:cubicBezTo>
                    <a:pt x="168" y="223"/>
                    <a:pt x="172" y="223"/>
                    <a:pt x="175" y="220"/>
                  </a:cubicBezTo>
                  <a:cubicBezTo>
                    <a:pt x="337" y="58"/>
                    <a:pt x="337" y="58"/>
                    <a:pt x="337" y="58"/>
                  </a:cubicBezTo>
                  <a:cubicBezTo>
                    <a:pt x="340" y="55"/>
                    <a:pt x="340" y="51"/>
                    <a:pt x="337" y="4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42D1AAD-DBBB-4DBC-AEA9-D23F16198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5580" y="490962"/>
            <a:ext cx="1882140" cy="1882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196</TotalTime>
  <Words>260</Words>
  <Application>Microsoft Office PowerPoint</Application>
  <PresentationFormat>On-screen Show (16:9)</PresentationFormat>
  <Paragraphs>60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Aldrich</vt:lpstr>
      <vt:lpstr>Wingdings</vt:lpstr>
      <vt:lpstr>Wingdings 2</vt:lpstr>
      <vt:lpstr>Actor</vt:lpstr>
      <vt:lpstr>Calibri</vt:lpstr>
      <vt:lpstr>Gantari</vt:lpstr>
      <vt:lpstr>Arial</vt:lpstr>
      <vt:lpstr>Nunito Light</vt:lpstr>
      <vt:lpstr>Calisto MT</vt:lpstr>
      <vt:lpstr>Slate</vt:lpstr>
      <vt:lpstr>Tic Tac Toe</vt:lpstr>
      <vt:lpstr>Table of contents</vt:lpstr>
      <vt:lpstr>Introduction</vt:lpstr>
      <vt:lpstr>PowerPoint Presentation</vt:lpstr>
      <vt:lpstr>Minimax Algorithm</vt:lpstr>
      <vt:lpstr>Alpha Beta Pruning</vt:lpstr>
      <vt:lpstr>Input/Output</vt:lpstr>
      <vt:lpstr>PowerPoint Presentation</vt:lpstr>
      <vt:lpstr>PowerPoint Presentation</vt:lpstr>
      <vt:lpstr>Important Links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 Tac Toe</dc:title>
  <dc:creator>Navid</dc:creator>
  <cp:lastModifiedBy>Windows</cp:lastModifiedBy>
  <cp:revision>10</cp:revision>
  <dcterms:modified xsi:type="dcterms:W3CDTF">2025-09-18T06:15:35Z</dcterms:modified>
</cp:coreProperties>
</file>